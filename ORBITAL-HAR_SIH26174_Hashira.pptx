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29184" y="1417320"/>
            <a:ext cx="8778240" cy="914400"/>
          </a:xfrm>
        </p:spPr>
        <p:txBody>
          <a:bodyPr wrap="square"/>
          <a:lstStyle/>
          <a:p>
            <a:pPr algn="l">
              <a:spcAft>
                <a:spcPts val="200"/>
              </a:spcAft>
              <a:buNone/>
            </a:pPr>
            <a:r>
              <a:rPr sz="3200" b="1">
                <a:solidFill>
                  <a:srgbClr val="1F497D"/>
                </a:solidFill>
              </a:rPr>
              <a:t>ORBITAL-HAR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sz="1500" i="1">
                <a:solidFill>
                  <a:srgbClr val="0070C0"/>
                </a:solidFill>
              </a:rPr>
              <a:t>Offline on-board procedure supervision for BAS experiments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9184" y="2468880"/>
            <a:ext cx="6035040" cy="4023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>
                <a:solidFill>
                  <a:srgbClr val="1F497D"/>
                </a:solidFill>
                <a:latin typeface="Calibri"/>
              </a:rPr>
              <a:t>Problem Statement ID:  </a:t>
            </a:r>
            <a:r>
              <a:rPr sz="1500">
                <a:solidFill>
                  <a:srgbClr val="262A33"/>
                </a:solidFill>
                <a:latin typeface="Calibri"/>
              </a:rPr>
              <a:t>SIH26174</a:t>
            </a:r>
            <a:endParaRPr lang="en-US" dirty="0"/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1F497D"/>
                </a:solidFill>
                <a:latin typeface="Calibri"/>
              </a:rPr>
              <a:t>Problem Statement Title:  </a:t>
            </a:r>
            <a:r>
              <a:rPr sz="1500">
                <a:solidFill>
                  <a:srgbClr val="262A33"/>
                </a:solidFill>
                <a:latin typeface="Calibri"/>
              </a:rPr>
              <a:t>AI Human Activity Recognition for On-board BAS Experiments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1F497D"/>
                </a:solidFill>
                <a:latin typeface="Calibri"/>
              </a:rPr>
              <a:t>Theme:  </a:t>
            </a:r>
            <a:r>
              <a:rPr sz="1500">
                <a:solidFill>
                  <a:srgbClr val="262A33"/>
                </a:solidFill>
                <a:latin typeface="Calibri"/>
              </a:rPr>
              <a:t>Space Technology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1F497D"/>
                </a:solidFill>
                <a:latin typeface="Calibri"/>
              </a:rPr>
              <a:t>PS Category:  </a:t>
            </a:r>
            <a:r>
              <a:rPr sz="1500">
                <a:solidFill>
                  <a:srgbClr val="262A33"/>
                </a:solidFill>
                <a:latin typeface="Calibri"/>
              </a:rPr>
              <a:t>Software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1F497D"/>
                </a:solidFill>
                <a:latin typeface="Calibri"/>
              </a:rPr>
              <a:t>Team ID:  </a:t>
            </a:r>
            <a:r>
              <a:rPr sz="1500">
                <a:solidFill>
                  <a:srgbClr val="262A33"/>
                </a:solidFill>
                <a:latin typeface="Calibri"/>
              </a:rPr>
              <a:t>(as registered on SIH portal)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1F497D"/>
                </a:solidFill>
                <a:latin typeface="Calibri"/>
              </a:rPr>
              <a:t>Team Name:  </a:t>
            </a:r>
            <a:r>
              <a:rPr sz="1500">
                <a:solidFill>
                  <a:srgbClr val="262A33"/>
                </a:solidFill>
                <a:latin typeface="Calibri"/>
              </a:rPr>
              <a:t>Hashira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t>ORBITAL-HAR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457200" y="1417320"/>
            <a:ext cx="1124712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l"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</a:pPr>
            <a:r>
              <a:rPr sz="1500" b="1" i="0">
                <a:solidFill>
                  <a:srgbClr val="0070C0"/>
                </a:solidFill>
                <a:latin typeface="Calibri"/>
              </a:rPr>
              <a:t>The idea in one line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  <a:buNone/>
            </a:pPr>
            <a:r>
              <a:rPr sz="1350" b="0" i="0">
                <a:solidFill>
                  <a:srgbClr val="262A33"/>
                </a:solidFill>
                <a:latin typeface="Calibri"/>
              </a:rPr>
              <a:t>A fixed payload camera watches an astronaut run an experiment. The system recognises each action, prompts the next step, voice-alerts on a skipped or out-of-order step, and emits a few KB of verified telemetry instead of a video downlink — fully offline on the edge.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1500" b="1" i="0">
                <a:solidFill>
                  <a:srgbClr val="0070C0"/>
                </a:solidFill>
                <a:latin typeface="Calibri"/>
              </a:rPr>
              <a:t>How it addresses the problem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300" b="0" i="0">
                <a:solidFill>
                  <a:srgbClr val="262A33"/>
                </a:solidFill>
                <a:latin typeface="Calibri"/>
              </a:rPr>
              <a:t>•  Replaces high-bandwidth video downlink with tamper-evident, hash-chained step telemetry — ground control gets provable status without real-time comms.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300" b="0" i="0">
                <a:solidFill>
                  <a:srgbClr val="262A33"/>
                </a:solidFill>
                <a:latin typeface="Calibri"/>
              </a:rPr>
              <a:t>•  Reasoning-first, never guesses: perception publishes primitives (objects, hands, pose) to an event bus; a deterministic state machine decides and, below confidence, reports UNVERIFIED rather than a confident wrong verdict.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buNone/>
            </a:pPr>
            <a:r>
              <a:rPr sz="1300" b="0" i="0">
                <a:solidFill>
                  <a:srgbClr val="262A33"/>
                </a:solidFill>
                <a:latin typeface="Calibri"/>
              </a:rPr>
              <a:t>•  Orientation-agnostic: the input frame is canonicalised to the payload rack (ArUco), so a floating or inverted astronaut is still recognised — solving the “no fixed up/down” problem.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1500" b="1" i="0">
                <a:solidFill>
                  <a:srgbClr val="0070C0"/>
                </a:solidFill>
                <a:latin typeface="Calibri"/>
              </a:rPr>
              <a:t>Innovation &amp; uniqueness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300" b="0" i="0">
                <a:solidFill>
                  <a:srgbClr val="262A33"/>
                </a:solidFill>
                <a:latin typeface="Calibri"/>
              </a:rPr>
              <a:t>•  Procedure-as-config: every experiment is a YAML file, not code — a new experiment is a new file, with zero changes to the engine.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300" b="0" i="0">
                <a:solidFill>
                  <a:srgbClr val="262A33"/>
                </a:solidFill>
                <a:latin typeface="Calibri"/>
              </a:rPr>
              <a:t>•  Event-bus seam decouples AI from reasoning: enables record-once/replay-1000× tuning and “demo insurance” if a camera fails live.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262A33"/>
                </a:solidFill>
                <a:latin typeface="Calibri"/>
              </a:rPr>
              <a:t>•  Explainable + auditable: deterministic verdicts and an append-only hash-chained log make every decision defensible.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</a:pPr>
            <a:r>
              <a:rPr sz="1200" b="1">
                <a:solidFill>
                  <a:srgbClr val="1F497D"/>
                </a:solidFill>
                <a:latin typeface="Calibri"/>
              </a:rPr>
              <a:t>Hashira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1097280"/>
            <a:ext cx="1124712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l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</a:pPr>
            <a:r>
              <a:rPr sz="1350" b="1" i="0">
                <a:solidFill>
                  <a:srgbClr val="0070C0"/>
                </a:solidFill>
                <a:latin typeface="Calibri"/>
              </a:rPr>
              <a:t>Technologies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262A33"/>
                </a:solidFill>
                <a:latin typeface="Calibri"/>
              </a:rPr>
              <a:t>Python 3.11  ·  YOLO11 detection (object states as classes)  ·  MediaPipe Hands  ·  YOLO11-pose  ·  OpenCV ArUco (rack frame)  ·  Pydantic + YAML procedures  ·  Piper offline TTS  ·  FastAPI + WebSocket  ·  React + Vite (bundled, no CDN)  ·  FFmpeg + MediaMTX (RTSP + local record)  ·  Blender synthetic data  ·  Jetson Orin Nano + TensorRT (edge)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</a:pPr>
            <a:r>
              <a:rPr sz="1200" b="1">
                <a:solidFill>
                  <a:srgbClr val="1F497D"/>
                </a:solidFill>
                <a:latin typeface="Calibri"/>
              </a:rPr>
              <a:t>Hashira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411480" y="2788920"/>
            <a:ext cx="1874519" cy="868680"/>
          </a:xfrm>
          <a:prstGeom prst="roundRect">
            <a:avLst/>
          </a:prstGeom>
          <a:solidFill>
            <a:srgbClr val="E8F0FA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62A33"/>
                </a:solidFill>
                <a:latin typeface="Calibri"/>
              </a:rPr>
              <a:t>Payload Camera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62A33"/>
                </a:solidFill>
                <a:latin typeface="Calibri"/>
              </a:rPr>
              <a:t>+ Rack ArUco Markers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2560320" y="2788920"/>
            <a:ext cx="1874519" cy="868680"/>
          </a:xfrm>
          <a:prstGeom prst="roundRect">
            <a:avLst/>
          </a:prstGeom>
          <a:solidFill>
            <a:srgbClr val="D3E3F6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62A33"/>
                </a:solidFill>
                <a:latin typeface="Calibri"/>
              </a:rPr>
              <a:t>Rack-frame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62A33"/>
                </a:solidFill>
                <a:latin typeface="Calibri"/>
              </a:rPr>
              <a:t>Canonicalizer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709159" y="2788920"/>
            <a:ext cx="1874519" cy="868680"/>
          </a:xfrm>
          <a:prstGeom prst="roundRect">
            <a:avLst/>
          </a:prstGeom>
          <a:solidFill>
            <a:srgbClr val="D3E3F6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62A33"/>
                </a:solidFill>
                <a:latin typeface="Calibri"/>
              </a:rPr>
              <a:t>Perception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62A33"/>
                </a:solidFill>
                <a:latin typeface="Calibri"/>
              </a:rPr>
              <a:t>Detect · Hands · Pose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857999" y="2788920"/>
            <a:ext cx="1874519" cy="868680"/>
          </a:xfrm>
          <a:prstGeom prst="roundRect">
            <a:avLst/>
          </a:prstGeom>
          <a:solidFill>
            <a:srgbClr val="0070C0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Event Bus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(JSONL stream)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9006839" y="2788920"/>
            <a:ext cx="1874519" cy="868680"/>
          </a:xfrm>
          <a:prstGeom prst="roundRect">
            <a:avLst/>
          </a:prstGeom>
          <a:solidFill>
            <a:srgbClr val="1F497D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Procedure Engine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deterministic state machine</a:t>
            </a:r>
          </a:p>
        </p:txBody>
      </p:sp>
      <p:sp>
        <p:nvSpPr>
          <p:cNvPr id="17416" name="Right Arrow 17415"/>
          <p:cNvSpPr/>
          <p:nvPr/>
        </p:nvSpPr>
        <p:spPr>
          <a:xfrm>
            <a:off x="2295144" y="3122676"/>
            <a:ext cx="256031" cy="201168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ight Arrow 17416"/>
          <p:cNvSpPr/>
          <p:nvPr/>
        </p:nvSpPr>
        <p:spPr>
          <a:xfrm>
            <a:off x="4443983" y="3122676"/>
            <a:ext cx="256031" cy="201168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ight Arrow 17417"/>
          <p:cNvSpPr/>
          <p:nvPr/>
        </p:nvSpPr>
        <p:spPr>
          <a:xfrm>
            <a:off x="6592823" y="3122676"/>
            <a:ext cx="256031" cy="201168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ight Arrow 17418"/>
          <p:cNvSpPr/>
          <p:nvPr/>
        </p:nvSpPr>
        <p:spPr>
          <a:xfrm>
            <a:off x="8741663" y="3122676"/>
            <a:ext cx="256031" cy="201168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7589520" y="4160520"/>
            <a:ext cx="2377440" cy="566928"/>
          </a:xfrm>
          <a:prstGeom prst="roundRect">
            <a:avLst/>
          </a:prstGeom>
          <a:solidFill>
            <a:srgbClr val="FFF2CC"/>
          </a:solidFill>
          <a:ln w="15875">
            <a:solidFill>
              <a:srgbClr val="D8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62A33"/>
                </a:solidFill>
                <a:latin typeface="Calibri"/>
              </a:rPr>
              <a:t>Procedure YAML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62A33"/>
                </a:solidFill>
                <a:latin typeface="Calibri"/>
              </a:rPr>
              <a:t>(experiment as config)</a:t>
            </a:r>
          </a:p>
        </p:txBody>
      </p:sp>
      <p:sp>
        <p:nvSpPr>
          <p:cNvPr id="17421" name="Up Arrow 17420"/>
          <p:cNvSpPr/>
          <p:nvPr/>
        </p:nvSpPr>
        <p:spPr>
          <a:xfrm>
            <a:off x="9281160" y="3666744"/>
            <a:ext cx="201168" cy="493775"/>
          </a:xfrm>
          <a:prstGeom prst="upArrow">
            <a:avLst/>
          </a:prstGeom>
          <a:solidFill>
            <a:srgbClr val="D8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Rectangle 17421"/>
          <p:cNvSpPr/>
          <p:nvPr/>
        </p:nvSpPr>
        <p:spPr>
          <a:xfrm>
            <a:off x="1851660" y="4956048"/>
            <a:ext cx="8641080" cy="4572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Down Arrow 17422"/>
          <p:cNvSpPr/>
          <p:nvPr/>
        </p:nvSpPr>
        <p:spPr>
          <a:xfrm>
            <a:off x="10369296" y="3675887"/>
            <a:ext cx="201168" cy="1280160"/>
          </a:xfrm>
          <a:prstGeom prst="downArrow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Down Arrow 17423"/>
          <p:cNvSpPr/>
          <p:nvPr/>
        </p:nvSpPr>
        <p:spPr>
          <a:xfrm>
            <a:off x="1769364" y="5001768"/>
            <a:ext cx="164592" cy="292607"/>
          </a:xfrm>
          <a:prstGeom prst="downArrow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Down Arrow 17424"/>
          <p:cNvSpPr/>
          <p:nvPr/>
        </p:nvSpPr>
        <p:spPr>
          <a:xfrm>
            <a:off x="4649724" y="5001768"/>
            <a:ext cx="164592" cy="292607"/>
          </a:xfrm>
          <a:prstGeom prst="downArrow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Down Arrow 17425"/>
          <p:cNvSpPr/>
          <p:nvPr/>
        </p:nvSpPr>
        <p:spPr>
          <a:xfrm>
            <a:off x="7530084" y="5001768"/>
            <a:ext cx="164592" cy="292607"/>
          </a:xfrm>
          <a:prstGeom prst="downArrow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Down Arrow 17426"/>
          <p:cNvSpPr/>
          <p:nvPr/>
        </p:nvSpPr>
        <p:spPr>
          <a:xfrm>
            <a:off x="10410444" y="5001768"/>
            <a:ext cx="164592" cy="292607"/>
          </a:xfrm>
          <a:prstGeom prst="downArrow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Rounded Rectangle 17427"/>
          <p:cNvSpPr/>
          <p:nvPr/>
        </p:nvSpPr>
        <p:spPr>
          <a:xfrm>
            <a:off x="502920" y="5303520"/>
            <a:ext cx="2697480" cy="731520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62A33"/>
                </a:solidFill>
                <a:latin typeface="Calibri"/>
              </a:rPr>
              <a:t>Voice Alerts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62A33"/>
                </a:solidFill>
                <a:latin typeface="Calibri"/>
              </a:rPr>
              <a:t>Piper TTS (offline)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3383280" y="5303520"/>
            <a:ext cx="2697480" cy="731520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62A33"/>
                </a:solidFill>
                <a:latin typeface="Calibri"/>
              </a:rPr>
              <a:t>Hash-chained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62A33"/>
                </a:solidFill>
                <a:latin typeface="Calibri"/>
              </a:rPr>
              <a:t>Telemetry (KB, auditable)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6263640" y="5303520"/>
            <a:ext cx="2697480" cy="731520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62A33"/>
                </a:solidFill>
                <a:latin typeface="Calibri"/>
              </a:rPr>
              <a:t>RTSP Video Out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62A33"/>
                </a:solidFill>
                <a:latin typeface="Calibri"/>
              </a:rPr>
              <a:t>+ Local Recording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9144000" y="5303520"/>
            <a:ext cx="2697480" cy="731520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62A33"/>
                </a:solidFill>
                <a:latin typeface="Calibri"/>
              </a:rPr>
              <a:t>Dashboard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62A33"/>
                </a:solidFill>
                <a:latin typeface="Calibri"/>
              </a:rPr>
              <a:t>Crew HUD / Ground Ops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502920" y="6089904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808080"/>
                </a:solidFill>
                <a:latin typeface="Calibri"/>
              </a:rPr>
              <a:t>Fire-and-forget outputs — losing any output never stops supervision.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1417320"/>
            <a:ext cx="1124712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sz="1500" b="1" i="0">
                <a:solidFill>
                  <a:srgbClr val="0070C0"/>
                </a:solidFill>
                <a:latin typeface="Calibri"/>
              </a:rPr>
              <a:t>Feasibility — already de-risked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300" b="0" i="0">
                <a:solidFill>
                  <a:srgbClr val="262A33"/>
                </a:solidFill>
                <a:latin typeface="Calibri"/>
              </a:rPr>
              <a:t>•  The reasoning spine is built and tested end-to-end with no camera and no models: procedure schema, event bus with replay, 7 predicate evaluators, step state machine and CLI — 73 tests pass, plus a golden replay corpus.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300" b="0" i="0">
                <a:solidFill>
                  <a:srgbClr val="262A33"/>
                </a:solidFill>
                <a:latin typeface="Calibri"/>
              </a:rPr>
              <a:t>•  A live webcam demo already runs today using a pretrained YOLO stand-in feeding the real engine (on-screen HUD + offline voice).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buNone/>
            </a:pPr>
            <a:r>
              <a:rPr sz="1300" b="0" i="0">
                <a:solidFill>
                  <a:srgbClr val="262A33"/>
                </a:solidFill>
                <a:latin typeface="Calibri"/>
              </a:rPr>
              <a:t>•  Small-data regime: fixed camera, controlled scene, under 12 classes — ~2,000 synthetic + ~800 real frames is enough to fine-tune YOLO11 from COCO weights.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1500" b="1" i="0">
                <a:solidFill>
                  <a:srgbClr val="0070C0"/>
                </a:solidFill>
                <a:latin typeface="Calibri"/>
              </a:rPr>
              <a:t>Challenges &amp; risks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buNone/>
            </a:pPr>
            <a:r>
              <a:rPr sz="1300" b="0" i="0">
                <a:solidFill>
                  <a:srgbClr val="262A33"/>
                </a:solidFill>
                <a:latin typeface="Calibri"/>
              </a:rPr>
              <a:t>•  Dataset generation is the critical path (props → footage → labels → model). Standard pose models fail on inverted bodies. Edge compute/power budget and real-time alert latency are constrained.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1500" b="1" i="0">
                <a:solidFill>
                  <a:srgbClr val="0070C0"/>
                </a:solidFill>
                <a:latin typeface="Calibri"/>
              </a:rPr>
              <a:t>Strategies to overcome them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262A33"/>
                </a:solidFill>
                <a:latin typeface="Calibri"/>
              </a:rPr>
              <a:t>•  Blender auto-labelled synthetic data randomised across the full orientation sphere; canonicalise the input frame (not the output pose); pre-synthesize voice prompts to WAV off the alert path; TensorRT export for the Jetson; event-bus replay as live demo insurance.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</a:pPr>
            <a:r>
              <a:rPr sz="1200" b="1">
                <a:solidFill>
                  <a:srgbClr val="1F497D"/>
                </a:solidFill>
                <a:latin typeface="Calibri"/>
              </a:rPr>
              <a:t>Hashira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1417320"/>
            <a:ext cx="1124712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sz="1500" b="1" i="0">
                <a:solidFill>
                  <a:srgbClr val="0070C0"/>
                </a:solidFill>
                <a:latin typeface="Calibri"/>
              </a:rPr>
              <a:t>Mission impact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300" b="0" i="0">
                <a:solidFill>
                  <a:srgbClr val="262A33"/>
                </a:solidFill>
                <a:latin typeface="Calibri"/>
              </a:rPr>
              <a:t>•  Enables autonomous, protocol-perfect science execution beyond real-time ground support (BAS, lunar) — the core need in the problem statement.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1500" b="1" i="0">
                <a:solidFill>
                  <a:srgbClr val="0070C0"/>
                </a:solidFill>
                <a:latin typeface="Calibri"/>
              </a:rPr>
              <a:t>Bandwidth saved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300" b="0" i="0">
                <a:solidFill>
                  <a:srgbClr val="262A33"/>
                </a:solidFill>
                <a:latin typeface="Calibri"/>
              </a:rPr>
              <a:t>•  KB-scale verified telemetry instead of GB-scale video downlink — orders-of-magnitude saving on a data-restricted space link.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1500" b="1" i="0">
                <a:solidFill>
                  <a:srgbClr val="0070C0"/>
                </a:solidFill>
                <a:latin typeface="Calibri"/>
              </a:rPr>
              <a:t>Safety &amp; trust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300" b="0" i="0">
                <a:solidFill>
                  <a:srgbClr val="262A33"/>
                </a:solidFill>
                <a:latin typeface="Calibri"/>
              </a:rPr>
              <a:t>•  Deterministic, explainable verdicts and a tamper-evident hash-chained record of every step reduce crew error and support post-mission audit.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1500" b="1" i="0">
                <a:solidFill>
                  <a:srgbClr val="0070C0"/>
                </a:solidFill>
                <a:latin typeface="Calibri"/>
              </a:rPr>
              <a:t>Reusability &amp; spin-off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300" b="0" i="0">
                <a:solidFill>
                  <a:srgbClr val="262A33"/>
                </a:solidFill>
                <a:latin typeface="Calibri"/>
              </a:rPr>
              <a:t>•  Procedure-as-config makes it a platform, not a one-experiment demo — any procedural task (surgical, industrial, hazardous-site, training) reuses the same engine.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1500" b="1" i="0">
                <a:solidFill>
                  <a:srgbClr val="0070C0"/>
                </a:solidFill>
                <a:latin typeface="Calibri"/>
              </a:rPr>
              <a:t>Economic &amp; social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262A33"/>
                </a:solidFill>
                <a:latin typeface="Calibri"/>
              </a:rPr>
              <a:t>•  Lowers ground-ops load and crew training burden; indigenous, offline edge-AI capability aligned with India's space programme.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</a:pPr>
            <a:r>
              <a:rPr sz="1200" b="1">
                <a:solidFill>
                  <a:srgbClr val="1F497D"/>
                </a:solidFill>
                <a:latin typeface="Calibri"/>
              </a:rPr>
              <a:t>Hashira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1554480"/>
            <a:ext cx="1124712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sz="1300" b="0" i="0">
                <a:solidFill>
                  <a:srgbClr val="262A33"/>
                </a:solidFill>
                <a:latin typeface="Calibri"/>
              </a:rPr>
              <a:t>•  SIH 2026 Problem Statement SIH26174 — AI HAR for On-board BAS Experiments, ISRO / Department of Space  (sih.gov.in/sih2026PS)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  <a:buNone/>
            </a:pPr>
            <a:r>
              <a:rPr sz="1300" b="0" i="0">
                <a:solidFill>
                  <a:srgbClr val="262A33"/>
                </a:solidFill>
                <a:latin typeface="Calibri"/>
              </a:rPr>
              <a:t>•  Ultralytics YOLO11 / YOLO-World — object detection &amp; open-vocabulary pre-labelling  (docs.ultralytics.com)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None/>
            </a:pPr>
            <a:r>
              <a:rPr sz="1300" b="0" i="0">
                <a:solidFill>
                  <a:srgbClr val="262A33"/>
                </a:solidFill>
                <a:latin typeface="Calibri"/>
              </a:rPr>
              <a:t>•  Google MediaPipe Hands — real-time hand landmarks &amp; hand-object interaction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None/>
            </a:pPr>
            <a:r>
              <a:rPr sz="1300" b="0" i="0">
                <a:solidFill>
                  <a:srgbClr val="262A33"/>
                </a:solidFill>
                <a:latin typeface="Calibri"/>
              </a:rPr>
              <a:t>•  OpenCV ArUco — 6-DoF fiducial marker pose for rack-frame canonicalisation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None/>
            </a:pPr>
            <a:r>
              <a:rPr sz="1300" b="0" i="0">
                <a:solidFill>
                  <a:srgbClr val="262A33"/>
                </a:solidFill>
                <a:latin typeface="Calibri"/>
              </a:rPr>
              <a:t>•  Piper TTS (Rhasspy) — fully offline neural text-to-speech for voice alerts</a:t>
            </a:r>
          </a:p>
          <a:p>
            <a:pPr algn="l">
              <a:spcBef>
                <a:spcPts val="0"/>
              </a:spcBef>
              <a:spcAft>
                <a:spcPts val="700"/>
              </a:spcAft>
              <a:buNone/>
            </a:pPr>
            <a:r>
              <a:rPr sz="1300" b="0" i="0">
                <a:solidFill>
                  <a:srgbClr val="262A33"/>
                </a:solidFill>
                <a:latin typeface="Calibri"/>
              </a:rPr>
              <a:t>•  Orientation-agnostic 3D Human Mesh Recovery (HMR) literature — rack-relative body tracking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262A33"/>
                </a:solidFill>
                <a:latin typeface="Calibri"/>
              </a:rPr>
              <a:t>•  Blender bpy — scripted synthetic-data generation with automatic labels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</a:pPr>
            <a:r>
              <a:rPr sz="1200" b="1">
                <a:solidFill>
                  <a:srgbClr val="1F497D"/>
                </a:solidFill>
                <a:latin typeface="Calibri"/>
              </a:rPr>
              <a:t>Hashira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