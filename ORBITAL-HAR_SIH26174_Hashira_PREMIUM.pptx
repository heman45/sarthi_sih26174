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G">
    <p:bg>
      <p:bgPr>
        <a:solidFill>
          <a:srgbClr val="07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82296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194560" y="457200"/>
            <a:ext cx="27432" cy="27432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91840" y="1188720"/>
            <a:ext cx="36576" cy="36576"/>
          </a:xfrm>
          <a:prstGeom prst="ellipse">
            <a:avLst/>
          </a:prstGeom>
          <a:solidFill>
            <a:srgbClr val="FFFFFF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663440" y="640080"/>
            <a:ext cx="27432" cy="274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881360" y="731520"/>
            <a:ext cx="45720" cy="4572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0" y="1920240"/>
            <a:ext cx="36576" cy="36576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834640"/>
            <a:ext cx="27432" cy="274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795760" y="4023360"/>
            <a:ext cx="45720" cy="45720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332720" y="5120640"/>
            <a:ext cx="27432" cy="274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5669280"/>
            <a:ext cx="36576" cy="36576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0" y="61264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852160" y="36576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06640" y="822960"/>
            <a:ext cx="36576" cy="36576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0" y="457200"/>
            <a:ext cx="27432" cy="274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155680" y="5852160"/>
            <a:ext cx="36576" cy="36576"/>
          </a:xfrm>
          <a:prstGeom prst="ellipse">
            <a:avLst/>
          </a:prstGeom>
          <a:solidFill>
            <a:srgbClr val="FFFFFF">
              <a:alpha val="5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630936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321040" y="2148840"/>
            <a:ext cx="2103120" cy="2103120"/>
          </a:xfrm>
          <a:prstGeom prst="ellipse">
            <a:avLst/>
          </a:prstGeom>
          <a:ln w="12700">
            <a:solidFill>
              <a:srgbClr val="0E5A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0" y="1417320"/>
            <a:ext cx="3566160" cy="3566160"/>
          </a:xfrm>
          <a:prstGeom prst="ellipse">
            <a:avLst/>
          </a:prstGeom>
          <a:ln w="12700">
            <a:solidFill>
              <a:srgbClr val="0E5A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685800"/>
            <a:ext cx="5029200" cy="5029200"/>
          </a:xfrm>
          <a:prstGeom prst="ellipse">
            <a:avLst/>
          </a:prstGeom>
          <a:ln w="12700">
            <a:solidFill>
              <a:srgbClr val="0E5A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75704" y="3118104"/>
            <a:ext cx="164592" cy="164592"/>
          </a:xfrm>
          <a:prstGeom prst="ellipse">
            <a:avLst/>
          </a:prstGeom>
          <a:solidFill>
            <a:srgbClr val="34D399"/>
          </a:solidFill>
          <a:ln/>
          <a:effectLst>
            <a:outerShdw sx="100000" sy="100000" kx="0" ky="0" algn="bl" rotWithShape="0" blurRad="101600" dist="50800" dir="16200000">
              <a:srgbClr val="34D399">
                <a:alpha val="8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1018520" y="1691640"/>
            <a:ext cx="128016" cy="128016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23" name="Shape 21"/>
          <p:cNvSpPr/>
          <p:nvPr/>
        </p:nvSpPr>
        <p:spPr>
          <a:xfrm>
            <a:off x="8595360" y="2423160"/>
            <a:ext cx="1554480" cy="1554480"/>
          </a:xfrm>
          <a:prstGeom prst="ellipse">
            <a:avLst/>
          </a:prstGeom>
          <a:solidFill>
            <a:srgbClr val="16223F"/>
          </a:solidFill>
          <a:ln w="25400">
            <a:solidFill>
              <a:srgbClr val="2DD4E8"/>
            </a:solidFill>
            <a:prstDash val="solid"/>
          </a:ln>
          <a:effectLst>
            <a:outerShdw sx="100000" sy="100000" kx="0" ky="0" algn="bl" rotWithShape="0" blurRad="228600" dist="50800" dir="16200000">
              <a:srgbClr val="2DD4E8">
                <a:alpha val="70000"/>
              </a:srgbClr>
            </a:outerShdw>
          </a:effectLst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2743200"/>
            <a:ext cx="914400" cy="914400"/>
          </a:xfrm>
          <a:prstGeom prst="rect">
            <a:avLst/>
          </a:prstGeom>
        </p:spPr>
      </p:pic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709160"/>
            <a:ext cx="502920" cy="50292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40080" y="658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576072" y="1024128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ORBITAL-HAR</a:t>
            </a:r>
            <a:endParaRPr lang="en-US" sz="6000" dirty="0"/>
          </a:p>
        </p:txBody>
      </p:sp>
      <p:sp>
        <p:nvSpPr>
          <p:cNvPr id="28" name="Text 24"/>
          <p:cNvSpPr txBox="1"/>
          <p:nvPr/>
        </p:nvSpPr>
        <p:spPr>
          <a:xfrm>
            <a:off x="640080" y="221284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on-board procedure supervision for BAS experiments</a:t>
            </a:r>
            <a:endParaRPr lang="en-US" sz="1700" dirty="0"/>
          </a:p>
        </p:txBody>
      </p:sp>
      <p:sp>
        <p:nvSpPr>
          <p:cNvPr id="29" name="Shape 25"/>
          <p:cNvSpPr/>
          <p:nvPr/>
        </p:nvSpPr>
        <p:spPr>
          <a:xfrm>
            <a:off x="640080" y="2852928"/>
            <a:ext cx="1361542" cy="384048"/>
          </a:xfrm>
          <a:prstGeom prst="roundRect">
            <a:avLst>
              <a:gd name="adj" fmla="val 19048"/>
            </a:avLst>
          </a:prstGeom>
          <a:solidFill>
            <a:srgbClr val="0F1830"/>
          </a:solidFill>
          <a:ln w="12700">
            <a:solidFill>
              <a:srgbClr val="0E5A6B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40080" y="2852928"/>
            <a:ext cx="13615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2202790" y="2852928"/>
            <a:ext cx="851306" cy="384048"/>
          </a:xfrm>
          <a:prstGeom prst="roundRect">
            <a:avLst>
              <a:gd name="adj" fmla="val 19048"/>
            </a:avLst>
          </a:prstGeom>
          <a:solidFill>
            <a:srgbClr val="0F1830"/>
          </a:solidFill>
          <a:ln w="12700">
            <a:solidFill>
              <a:srgbClr val="0E5A6B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2202790" y="2852928"/>
            <a:ext cx="8513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3255264" y="2852928"/>
            <a:ext cx="2211934" cy="384048"/>
          </a:xfrm>
          <a:prstGeom prst="roundRect">
            <a:avLst>
              <a:gd name="adj" fmla="val 19048"/>
            </a:avLst>
          </a:prstGeom>
          <a:solidFill>
            <a:srgbClr val="0F1830"/>
          </a:solidFill>
          <a:ln w="12700">
            <a:solidFill>
              <a:srgbClr val="0E5A6B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3255264" y="2852928"/>
            <a:ext cx="22119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&amp; auditable</a:t>
            </a:r>
            <a:endParaRPr 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640080" y="370332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· SIH26174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640080" y="3950208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Human Activity Recognition for On-board BAS Experiments</a:t>
            </a:r>
            <a:endParaRPr lang="en-US" sz="1800" dirty="0"/>
          </a:p>
        </p:txBody>
      </p:sp>
      <p:sp>
        <p:nvSpPr>
          <p:cNvPr id="37" name="Text 33"/>
          <p:cNvSpPr txBox="1"/>
          <p:nvPr/>
        </p:nvSpPr>
        <p:spPr>
          <a:xfrm>
            <a:off x="640080" y="480060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950" dirty="0"/>
          </a:p>
        </p:txBody>
      </p:sp>
      <p:sp>
        <p:nvSpPr>
          <p:cNvPr id="38" name="Text 34"/>
          <p:cNvSpPr txBox="1"/>
          <p:nvPr/>
        </p:nvSpPr>
        <p:spPr>
          <a:xfrm>
            <a:off x="640080" y="50109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ISRO · Dept. of Space</a:t>
            </a:r>
            <a:endParaRPr lang="en-US" sz="1300" dirty="0"/>
          </a:p>
        </p:txBody>
      </p:sp>
      <p:sp>
        <p:nvSpPr>
          <p:cNvPr id="39" name="Text 35"/>
          <p:cNvSpPr txBox="1"/>
          <p:nvPr/>
        </p:nvSpPr>
        <p:spPr>
          <a:xfrm>
            <a:off x="640080" y="553212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50" dirty="0"/>
          </a:p>
        </p:txBody>
      </p:sp>
      <p:sp>
        <p:nvSpPr>
          <p:cNvPr id="40" name="Text 36"/>
          <p:cNvSpPr txBox="1"/>
          <p:nvPr/>
        </p:nvSpPr>
        <p:spPr>
          <a:xfrm>
            <a:off x="640080" y="57424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Hashira</a:t>
            </a:r>
            <a:endParaRPr lang="en-US" sz="1300" dirty="0"/>
          </a:p>
        </p:txBody>
      </p:sp>
      <p:sp>
        <p:nvSpPr>
          <p:cNvPr id="41" name="Text 37"/>
          <p:cNvSpPr txBox="1"/>
          <p:nvPr/>
        </p:nvSpPr>
        <p:spPr>
          <a:xfrm>
            <a:off x="3977640" y="480060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· CATEGORY</a:t>
            </a:r>
            <a:endParaRPr lang="en-US" sz="950" dirty="0"/>
          </a:p>
        </p:txBody>
      </p:sp>
      <p:sp>
        <p:nvSpPr>
          <p:cNvPr id="42" name="Text 38"/>
          <p:cNvSpPr txBox="1"/>
          <p:nvPr/>
        </p:nvSpPr>
        <p:spPr>
          <a:xfrm>
            <a:off x="3977640" y="50109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Technology · Software</a:t>
            </a:r>
            <a:endParaRPr lang="en-US" sz="1300" dirty="0"/>
          </a:p>
        </p:txBody>
      </p:sp>
      <p:sp>
        <p:nvSpPr>
          <p:cNvPr id="43" name="Text 39"/>
          <p:cNvSpPr txBox="1"/>
          <p:nvPr/>
        </p:nvSpPr>
        <p:spPr>
          <a:xfrm>
            <a:off x="3977640" y="553212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</a:t>
            </a:r>
            <a:endParaRPr lang="en-US" sz="950" dirty="0"/>
          </a:p>
        </p:txBody>
      </p:sp>
      <p:sp>
        <p:nvSpPr>
          <p:cNvPr id="44" name="Text 40"/>
          <p:cNvSpPr txBox="1"/>
          <p:nvPr/>
        </p:nvSpPr>
        <p:spPr>
          <a:xfrm>
            <a:off x="3977640" y="57424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 registered on portal)</a:t>
            </a:r>
            <a:endParaRPr lang="en-US" sz="1300" dirty="0"/>
          </a:p>
        </p:txBody>
      </p:sp>
      <p:sp>
        <p:nvSpPr>
          <p:cNvPr id="45" name="Text 41"/>
          <p:cNvSpPr txBox="1"/>
          <p:nvPr/>
        </p:nvSpPr>
        <p:spPr>
          <a:xfrm>
            <a:off x="502920" y="6455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ORBITAL-HAR</a:t>
            </a:r>
            <a:endParaRPr lang="en-US" sz="850" dirty="0"/>
          </a:p>
        </p:txBody>
      </p:sp>
      <p:sp>
        <p:nvSpPr>
          <p:cNvPr id="46" name="Text 42"/>
          <p:cNvSpPr txBox="1"/>
          <p:nvPr/>
        </p:nvSpPr>
        <p:spPr>
          <a:xfrm>
            <a:off x="10424160" y="6455664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217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78240" y="420624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Hashira</a:t>
            </a:r>
            <a:endParaRPr lang="en-US" sz="12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SIH26174 · ISRO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6537960" cy="1207008"/>
          </a:xfrm>
          <a:prstGeom prst="roundRect">
            <a:avLst>
              <a:gd name="adj" fmla="val 6061"/>
            </a:avLst>
          </a:prstGeom>
          <a:solidFill>
            <a:srgbClr val="16223F"/>
          </a:solidFill>
          <a:ln w="19050">
            <a:solidFill>
              <a:srgbClr val="2DD4E8"/>
            </a:solidFill>
            <a:prstDash val="solid"/>
          </a:ln>
          <a:effectLst>
            <a:outerShdw sx="100000" sy="100000" kx="0" ky="0" algn="bl" rotWithShape="0" blurRad="152400" dist="50800" dir="16200000">
              <a:srgbClr val="2DD4E8">
                <a:alpha val="5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1517904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IN ONE LINE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73936"/>
            <a:ext cx="6080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payload camera watches an astronaut run an experiment — the system recognises each action, prompts the next step, voice-alerts on a skip or wrong order, and emits a few KB of verified telemetry instead of a video downlink.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7889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ADDRESSES THE PROBLEM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127248"/>
            <a:ext cx="457200" cy="457200"/>
          </a:xfrm>
          <a:prstGeom prst="ellipse">
            <a:avLst/>
          </a:prstGeom>
          <a:solidFill>
            <a:srgbClr val="2DD4E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3227832"/>
            <a:ext cx="256032" cy="25603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70432" y="3108960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downlink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1170432" y="3364992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KB of hash-chained step telemetry replaces high-bandwidth video — provable status without real-time comms.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4215384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70432" y="4096512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Reasoning-first, never guesses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1170432" y="4352544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state machine decides; below confidence it reports UNVERIFIED rather than a confident wrong verdict.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8640" y="5102352"/>
            <a:ext cx="457200" cy="457200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5202936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170432" y="5084064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Orientation-agnostic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1170432" y="5340096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frame is canonicalised to the payload rack (ArUco), so a floating or inverted astronaut is still recognised.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7269480" y="1371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UNIQUENESS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269480" y="1700784"/>
            <a:ext cx="4416552" cy="1371600"/>
          </a:xfrm>
          <a:prstGeom prst="roundRect">
            <a:avLst>
              <a:gd name="adj" fmla="val 5333"/>
            </a:avLst>
          </a:prstGeom>
          <a:solidFill>
            <a:srgbClr val="0F1830"/>
          </a:solidFill>
          <a:ln w="12700">
            <a:solidFill>
              <a:srgbClr val="27335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24928" y="1938528"/>
            <a:ext cx="512064" cy="512064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7582" y="2051182"/>
            <a:ext cx="286756" cy="28675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138160" y="18836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Procedure-as-config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8138160" y="2185416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experiment is a YAML file, not code — a new experiment is a new file, engine untouched.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7269480" y="3218688"/>
            <a:ext cx="4416552" cy="1371600"/>
          </a:xfrm>
          <a:prstGeom prst="roundRect">
            <a:avLst>
              <a:gd name="adj" fmla="val 5333"/>
            </a:avLst>
          </a:prstGeom>
          <a:solidFill>
            <a:srgbClr val="0F1830"/>
          </a:solidFill>
          <a:ln w="12700">
            <a:solidFill>
              <a:srgbClr val="27335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424928" y="3456432"/>
            <a:ext cx="512064" cy="512064"/>
          </a:xfrm>
          <a:prstGeom prst="ellipse">
            <a:avLst/>
          </a:prstGeom>
          <a:solidFill>
            <a:srgbClr val="2DD4E8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7582" y="3569086"/>
            <a:ext cx="286756" cy="28675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138160" y="3401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Event-bus seam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8138160" y="370332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and reasoning are decoupled: record once, replay 1000× — and live demo insurance if a camera fails.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7269480" y="4736592"/>
            <a:ext cx="4416552" cy="1371600"/>
          </a:xfrm>
          <a:prstGeom prst="roundRect">
            <a:avLst>
              <a:gd name="adj" fmla="val 5333"/>
            </a:avLst>
          </a:prstGeom>
          <a:solidFill>
            <a:srgbClr val="0F1830"/>
          </a:solidFill>
          <a:ln w="12700">
            <a:solidFill>
              <a:srgbClr val="273350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7424928" y="4974336"/>
            <a:ext cx="512064" cy="512064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7582" y="5086990"/>
            <a:ext cx="286756" cy="286756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138160" y="49194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&amp; auditable</a:t>
            </a:r>
            <a:endParaRPr lang="en-US" sz="1300" dirty="0"/>
          </a:p>
        </p:txBody>
      </p:sp>
      <p:sp>
        <p:nvSpPr>
          <p:cNvPr id="36" name="Text 28"/>
          <p:cNvSpPr txBox="1"/>
          <p:nvPr/>
        </p:nvSpPr>
        <p:spPr>
          <a:xfrm>
            <a:off x="8138160" y="5221224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verdicts plus an append-only, hash-chained log make every decision defensible.</a:t>
            </a:r>
            <a:endParaRPr lang="en-US" sz="1050" dirty="0"/>
          </a:p>
        </p:txBody>
      </p:sp>
      <p:sp>
        <p:nvSpPr>
          <p:cNvPr id="37" name="Text 29"/>
          <p:cNvSpPr txBox="1"/>
          <p:nvPr/>
        </p:nvSpPr>
        <p:spPr>
          <a:xfrm>
            <a:off x="502920" y="6455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ORBITAL-HAR</a:t>
            </a:r>
            <a:endParaRPr lang="en-US" sz="850" dirty="0"/>
          </a:p>
        </p:txBody>
      </p:sp>
      <p:sp>
        <p:nvSpPr>
          <p:cNvPr id="38" name="Text 30"/>
          <p:cNvSpPr txBox="1"/>
          <p:nvPr/>
        </p:nvSpPr>
        <p:spPr>
          <a:xfrm>
            <a:off x="10424160" y="6455664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217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78240" y="420624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Hashira</a:t>
            </a:r>
            <a:endParaRPr lang="en-US" sz="12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SIH26174 · ISRO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3112" cy="868680"/>
          </a:xfrm>
          <a:prstGeom prst="roundRect">
            <a:avLst>
              <a:gd name="adj" fmla="val 8421"/>
            </a:avLst>
          </a:prstGeom>
          <a:solidFill>
            <a:srgbClr val="0F1830"/>
          </a:solidFill>
          <a:ln w="12700">
            <a:solidFill>
              <a:srgbClr val="2733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371600"/>
            <a:ext cx="10789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  </a:t>
            </a:r>
            <a:pPr indent="0" marL="0">
              <a:buNone/>
            </a:pPr>
            <a:r>
              <a:rPr lang="en-US" sz="1030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 · MediaPipe Hands · YOLO11-pose · OpenCV ArUco</a:t>
            </a:r>
            <a:endParaRPr lang="en-US" sz="103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1568196"/>
            <a:ext cx="10789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  </a:t>
            </a:r>
            <a:pPr indent="0" marL="0">
              <a:buNone/>
            </a:pPr>
            <a:r>
              <a:rPr lang="en-US" sz="1030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+ YAML procedures · deterministic state machine · 7 predicate evaluators</a:t>
            </a:r>
            <a:endParaRPr lang="en-US" sz="103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764792"/>
            <a:ext cx="10789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  </a:t>
            </a:r>
            <a:pPr indent="0" marL="0">
              <a:buNone/>
            </a:pPr>
            <a:r>
              <a:rPr lang="en-US" sz="1030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Piper offline TTS · FastAPI + WebSocket · React + Vite (bundled) · FFmpeg + MediaMTX</a:t>
            </a:r>
            <a:endParaRPr lang="en-US" sz="103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1961388"/>
            <a:ext cx="10789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  </a:t>
            </a:r>
            <a:pPr indent="0" marL="0">
              <a:buNone/>
            </a:pPr>
            <a:r>
              <a:rPr lang="en-US" sz="1030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Orin Nano · TensorRT export · Blender synthetic data · zero network at runtime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502920" y="2395728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0F1830"/>
          </a:solidFill>
          <a:ln w="12700">
            <a:solidFill>
              <a:srgbClr val="2733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93876" y="2478024"/>
            <a:ext cx="384048" cy="384048"/>
          </a:xfrm>
          <a:prstGeom prst="ellipse">
            <a:avLst/>
          </a:prstGeom>
          <a:solidFill>
            <a:srgbClr val="2DD4E8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8367" y="2562515"/>
            <a:ext cx="215067" cy="215067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48640" y="288036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Camera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0815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ArUco rack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743200" y="2395728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0F1830"/>
          </a:solidFill>
          <a:ln w="12700">
            <a:solidFill>
              <a:srgbClr val="27335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34156" y="2478024"/>
            <a:ext cx="384048" cy="384048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8647" y="2562515"/>
            <a:ext cx="215067" cy="21506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788920" y="288036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Rack-frame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2788920" y="30815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canonicalizer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4983480" y="2395728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0F1830"/>
          </a:solidFill>
          <a:ln w="12700">
            <a:solidFill>
              <a:srgbClr val="27335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774436" y="2478024"/>
            <a:ext cx="384048" cy="384048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927" y="2562515"/>
            <a:ext cx="215067" cy="215067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029200" y="288036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5029200" y="30815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· hands · pose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7223760" y="2395728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16223F"/>
          </a:solidFill>
          <a:ln w="22225">
            <a:solidFill>
              <a:srgbClr val="2DD4E8"/>
            </a:solidFill>
            <a:prstDash val="solid"/>
          </a:ln>
          <a:effectLst>
            <a:outerShdw sx="100000" sy="100000" kx="0" ky="0" algn="bl" rotWithShape="0" blurRad="152400" dist="50800" dir="16200000">
              <a:srgbClr val="2DD4E8">
                <a:alpha val="5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014716" y="2478024"/>
            <a:ext cx="384048" cy="384048"/>
          </a:xfrm>
          <a:prstGeom prst="ellipse">
            <a:avLst/>
          </a:prstGeom>
          <a:solidFill>
            <a:srgbClr val="2DD4E8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9207" y="2562515"/>
            <a:ext cx="215067" cy="215067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269480" y="288036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Bus</a:t>
            </a:r>
            <a:endParaRPr lang="en-US" sz="1150" dirty="0"/>
          </a:p>
        </p:txBody>
      </p:sp>
      <p:sp>
        <p:nvSpPr>
          <p:cNvPr id="29" name="Text 23"/>
          <p:cNvSpPr txBox="1"/>
          <p:nvPr/>
        </p:nvSpPr>
        <p:spPr>
          <a:xfrm>
            <a:off x="7269480" y="30815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stream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9464040" y="2395728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16223F"/>
          </a:solidFill>
          <a:ln w="22225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50800" dir="16200000">
              <a:srgbClr val="34D399">
                <a:alpha val="5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10254996" y="2478024"/>
            <a:ext cx="384048" cy="384048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9487" y="2562515"/>
            <a:ext cx="215067" cy="215067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509760" y="288036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Engine</a:t>
            </a:r>
            <a:endParaRPr lang="en-US" sz="1150" dirty="0"/>
          </a:p>
        </p:txBody>
      </p:sp>
      <p:sp>
        <p:nvSpPr>
          <p:cNvPr id="34" name="Text 27"/>
          <p:cNvSpPr txBox="1"/>
          <p:nvPr/>
        </p:nvSpPr>
        <p:spPr>
          <a:xfrm>
            <a:off x="9509760" y="30815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FSM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2487168" y="2830068"/>
            <a:ext cx="237744" cy="0"/>
          </a:xfrm>
          <a:prstGeom prst="line">
            <a:avLst/>
          </a:prstGeom>
          <a:noFill/>
          <a:ln w="25400">
            <a:solidFill>
              <a:srgbClr val="2DD4E8"/>
            </a:solidFill>
            <a:prstDash val="solid"/>
            <a:tailEnd type="triangle"/>
          </a:ln>
        </p:spPr>
      </p:sp>
      <p:sp>
        <p:nvSpPr>
          <p:cNvPr id="36" name="Shape 29"/>
          <p:cNvSpPr/>
          <p:nvPr/>
        </p:nvSpPr>
        <p:spPr>
          <a:xfrm>
            <a:off x="4727448" y="2830068"/>
            <a:ext cx="237744" cy="0"/>
          </a:xfrm>
          <a:prstGeom prst="line">
            <a:avLst/>
          </a:prstGeom>
          <a:noFill/>
          <a:ln w="25400">
            <a:solidFill>
              <a:srgbClr val="2DD4E8"/>
            </a:solidFill>
            <a:prstDash val="solid"/>
            <a:tailEnd type="triangle"/>
          </a:ln>
        </p:spPr>
      </p:sp>
      <p:sp>
        <p:nvSpPr>
          <p:cNvPr id="37" name="Shape 30"/>
          <p:cNvSpPr/>
          <p:nvPr/>
        </p:nvSpPr>
        <p:spPr>
          <a:xfrm>
            <a:off x="6967728" y="2830068"/>
            <a:ext cx="237744" cy="0"/>
          </a:xfrm>
          <a:prstGeom prst="line">
            <a:avLst/>
          </a:prstGeom>
          <a:noFill/>
          <a:ln w="25400">
            <a:solidFill>
              <a:srgbClr val="2DD4E8"/>
            </a:solidFill>
            <a:prstDash val="solid"/>
            <a:tailEnd type="triangle"/>
          </a:ln>
        </p:spPr>
      </p:sp>
      <p:sp>
        <p:nvSpPr>
          <p:cNvPr id="38" name="Shape 31"/>
          <p:cNvSpPr/>
          <p:nvPr/>
        </p:nvSpPr>
        <p:spPr>
          <a:xfrm>
            <a:off x="9208008" y="2830068"/>
            <a:ext cx="237744" cy="0"/>
          </a:xfrm>
          <a:prstGeom prst="line">
            <a:avLst/>
          </a:prstGeom>
          <a:noFill/>
          <a:ln w="25400">
            <a:solidFill>
              <a:srgbClr val="2DD4E8"/>
            </a:solidFill>
            <a:prstDash val="solid"/>
            <a:tailEnd type="triangle"/>
          </a:ln>
        </p:spPr>
      </p:sp>
      <p:sp>
        <p:nvSpPr>
          <p:cNvPr id="39" name="Shape 32"/>
          <p:cNvSpPr/>
          <p:nvPr/>
        </p:nvSpPr>
        <p:spPr>
          <a:xfrm>
            <a:off x="8138160" y="356616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0F1830"/>
          </a:solidFill>
          <a:ln w="12700">
            <a:solidFill>
              <a:srgbClr val="273350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8997696" y="3648456"/>
            <a:ext cx="384048" cy="384048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2187" y="3732947"/>
            <a:ext cx="215067" cy="215067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8183880" y="40507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YAML</a:t>
            </a:r>
            <a:endParaRPr lang="en-US" sz="1150" dirty="0"/>
          </a:p>
        </p:txBody>
      </p:sp>
      <p:sp>
        <p:nvSpPr>
          <p:cNvPr id="43" name="Text 35"/>
          <p:cNvSpPr txBox="1"/>
          <p:nvPr/>
        </p:nvSpPr>
        <p:spPr>
          <a:xfrm>
            <a:off x="8183880" y="42519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as config</a:t>
            </a:r>
            <a:endParaRPr lang="en-US" sz="850" dirty="0"/>
          </a:p>
        </p:txBody>
      </p:sp>
      <p:sp>
        <p:nvSpPr>
          <p:cNvPr id="44" name="Shape 36"/>
          <p:cNvSpPr/>
          <p:nvPr/>
        </p:nvSpPr>
        <p:spPr>
          <a:xfrm flipV="1">
            <a:off x="9326880" y="3282696"/>
            <a:ext cx="0" cy="283464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  <a:tailEnd type="triangle"/>
          </a:ln>
        </p:spPr>
      </p:sp>
      <p:sp>
        <p:nvSpPr>
          <p:cNvPr id="45" name="Shape 37"/>
          <p:cNvSpPr/>
          <p:nvPr/>
        </p:nvSpPr>
        <p:spPr>
          <a:xfrm>
            <a:off x="10387584" y="3282696"/>
            <a:ext cx="0" cy="1472184"/>
          </a:xfrm>
          <a:prstGeom prst="line">
            <a:avLst/>
          </a:prstGeom>
          <a:noFill/>
          <a:ln w="25400">
            <a:solidFill>
              <a:srgbClr val="2DD4E8"/>
            </a:solidFill>
            <a:prstDash val="solid"/>
            <a:tailEnd type="triangle"/>
          </a:ln>
        </p:spPr>
      </p:sp>
      <p:sp>
        <p:nvSpPr>
          <p:cNvPr id="46" name="Shape 38"/>
          <p:cNvSpPr/>
          <p:nvPr/>
        </p:nvSpPr>
        <p:spPr>
          <a:xfrm>
            <a:off x="1805940" y="4754880"/>
            <a:ext cx="8586216" cy="0"/>
          </a:xfrm>
          <a:prstGeom prst="line">
            <a:avLst/>
          </a:prstGeom>
          <a:noFill/>
          <a:ln w="28575">
            <a:solidFill>
              <a:srgbClr val="2DD4E8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1805940" y="4773168"/>
            <a:ext cx="0" cy="192024"/>
          </a:xfrm>
          <a:prstGeom prst="line">
            <a:avLst/>
          </a:prstGeom>
          <a:noFill/>
          <a:ln w="25400">
            <a:solidFill>
              <a:srgbClr val="2DD4E8"/>
            </a:solidFill>
            <a:prstDash val="solid"/>
            <a:tailEnd type="triangle"/>
          </a:ln>
        </p:spPr>
      </p:sp>
      <p:sp>
        <p:nvSpPr>
          <p:cNvPr id="48" name="Shape 40"/>
          <p:cNvSpPr/>
          <p:nvPr/>
        </p:nvSpPr>
        <p:spPr>
          <a:xfrm>
            <a:off x="4668012" y="4773168"/>
            <a:ext cx="0" cy="192024"/>
          </a:xfrm>
          <a:prstGeom prst="line">
            <a:avLst/>
          </a:prstGeom>
          <a:noFill/>
          <a:ln w="25400">
            <a:solidFill>
              <a:srgbClr val="2DD4E8"/>
            </a:solidFill>
            <a:prstDash val="solid"/>
            <a:tailEnd type="triangle"/>
          </a:ln>
        </p:spPr>
      </p:sp>
      <p:sp>
        <p:nvSpPr>
          <p:cNvPr id="49" name="Shape 41"/>
          <p:cNvSpPr/>
          <p:nvPr/>
        </p:nvSpPr>
        <p:spPr>
          <a:xfrm>
            <a:off x="7530084" y="4773168"/>
            <a:ext cx="0" cy="192024"/>
          </a:xfrm>
          <a:prstGeom prst="line">
            <a:avLst/>
          </a:prstGeom>
          <a:noFill/>
          <a:ln w="25400">
            <a:solidFill>
              <a:srgbClr val="2DD4E8"/>
            </a:solidFill>
            <a:prstDash val="solid"/>
            <a:tailEnd type="triangle"/>
          </a:ln>
        </p:spPr>
      </p:sp>
      <p:sp>
        <p:nvSpPr>
          <p:cNvPr id="50" name="Shape 42"/>
          <p:cNvSpPr/>
          <p:nvPr/>
        </p:nvSpPr>
        <p:spPr>
          <a:xfrm>
            <a:off x="10392156" y="4773168"/>
            <a:ext cx="0" cy="192024"/>
          </a:xfrm>
          <a:prstGeom prst="line">
            <a:avLst/>
          </a:prstGeom>
          <a:noFill/>
          <a:ln w="25400">
            <a:solidFill>
              <a:srgbClr val="2DD4E8"/>
            </a:solidFill>
            <a:prstDash val="solid"/>
            <a:tailEnd type="triangle"/>
          </a:ln>
        </p:spPr>
      </p:sp>
      <p:sp>
        <p:nvSpPr>
          <p:cNvPr id="51" name="Shape 43"/>
          <p:cNvSpPr/>
          <p:nvPr/>
        </p:nvSpPr>
        <p:spPr>
          <a:xfrm>
            <a:off x="502920" y="498348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0F1830"/>
          </a:solidFill>
          <a:ln w="12700">
            <a:solidFill>
              <a:srgbClr val="273350"/>
            </a:solidFill>
            <a:prstDash val="solid"/>
          </a:ln>
        </p:spPr>
      </p:sp>
      <p:sp>
        <p:nvSpPr>
          <p:cNvPr id="52" name="Shape 44"/>
          <p:cNvSpPr/>
          <p:nvPr/>
        </p:nvSpPr>
        <p:spPr>
          <a:xfrm>
            <a:off x="1613916" y="5065776"/>
            <a:ext cx="384048" cy="384048"/>
          </a:xfrm>
          <a:prstGeom prst="ellipse">
            <a:avLst/>
          </a:prstGeom>
          <a:solidFill>
            <a:srgbClr val="FB923C"/>
          </a:solidFill>
          <a:ln/>
        </p:spPr>
      </p:sp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8407" y="5150267"/>
            <a:ext cx="215067" cy="215067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548640" y="546811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Alerts</a:t>
            </a:r>
            <a:endParaRPr lang="en-US" sz="1150" dirty="0"/>
          </a:p>
        </p:txBody>
      </p:sp>
      <p:sp>
        <p:nvSpPr>
          <p:cNvPr id="55" name="Text 46"/>
          <p:cNvSpPr txBox="1"/>
          <p:nvPr/>
        </p:nvSpPr>
        <p:spPr>
          <a:xfrm>
            <a:off x="548640" y="566928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Piper · offline</a:t>
            </a:r>
            <a:endParaRPr lang="en-US" sz="850" dirty="0"/>
          </a:p>
        </p:txBody>
      </p:sp>
      <p:sp>
        <p:nvSpPr>
          <p:cNvPr id="56" name="Shape 47"/>
          <p:cNvSpPr/>
          <p:nvPr/>
        </p:nvSpPr>
        <p:spPr>
          <a:xfrm>
            <a:off x="3364992" y="498348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0F1830"/>
          </a:solidFill>
          <a:ln w="12700">
            <a:solidFill>
              <a:srgbClr val="273350"/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>
            <a:off x="4475988" y="5065776"/>
            <a:ext cx="384048" cy="384048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5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0479" y="5150267"/>
            <a:ext cx="215067" cy="215067"/>
          </a:xfrm>
          <a:prstGeom prst="rect">
            <a:avLst/>
          </a:prstGeom>
        </p:spPr>
      </p:pic>
      <p:sp>
        <p:nvSpPr>
          <p:cNvPr id="59" name="Text 49"/>
          <p:cNvSpPr txBox="1"/>
          <p:nvPr/>
        </p:nvSpPr>
        <p:spPr>
          <a:xfrm>
            <a:off x="3410712" y="546811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1150" dirty="0"/>
          </a:p>
        </p:txBody>
      </p:sp>
      <p:sp>
        <p:nvSpPr>
          <p:cNvPr id="60" name="Text 50"/>
          <p:cNvSpPr txBox="1"/>
          <p:nvPr/>
        </p:nvSpPr>
        <p:spPr>
          <a:xfrm>
            <a:off x="3410712" y="566928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· KB</a:t>
            </a:r>
            <a:endParaRPr lang="en-US" sz="850" dirty="0"/>
          </a:p>
        </p:txBody>
      </p:sp>
      <p:sp>
        <p:nvSpPr>
          <p:cNvPr id="61" name="Shape 51"/>
          <p:cNvSpPr/>
          <p:nvPr/>
        </p:nvSpPr>
        <p:spPr>
          <a:xfrm>
            <a:off x="6227064" y="498348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0F1830"/>
          </a:solidFill>
          <a:ln w="12700">
            <a:solidFill>
              <a:srgbClr val="273350"/>
            </a:solidFill>
            <a:prstDash val="solid"/>
          </a:ln>
        </p:spPr>
      </p:sp>
      <p:sp>
        <p:nvSpPr>
          <p:cNvPr id="62" name="Shape 52"/>
          <p:cNvSpPr/>
          <p:nvPr/>
        </p:nvSpPr>
        <p:spPr>
          <a:xfrm>
            <a:off x="7338060" y="5065776"/>
            <a:ext cx="384048" cy="384048"/>
          </a:xfrm>
          <a:prstGeom prst="ellipse">
            <a:avLst/>
          </a:prstGeom>
          <a:solidFill>
            <a:srgbClr val="2DD4E8"/>
          </a:solidFill>
          <a:ln/>
        </p:spPr>
      </p:sp>
      <p:pic>
        <p:nvPicPr>
          <p:cNvPr id="6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2551" y="5150267"/>
            <a:ext cx="215067" cy="215067"/>
          </a:xfrm>
          <a:prstGeom prst="rect">
            <a:avLst/>
          </a:prstGeom>
        </p:spPr>
      </p:pic>
      <p:sp>
        <p:nvSpPr>
          <p:cNvPr id="64" name="Text 53"/>
          <p:cNvSpPr txBox="1"/>
          <p:nvPr/>
        </p:nvSpPr>
        <p:spPr>
          <a:xfrm>
            <a:off x="6272784" y="546811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+ Local</a:t>
            </a:r>
            <a:endParaRPr lang="en-US" sz="1150" dirty="0"/>
          </a:p>
        </p:txBody>
      </p:sp>
      <p:sp>
        <p:nvSpPr>
          <p:cNvPr id="65" name="Text 54"/>
          <p:cNvSpPr txBox="1"/>
          <p:nvPr/>
        </p:nvSpPr>
        <p:spPr>
          <a:xfrm>
            <a:off x="6272784" y="566928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&amp; record</a:t>
            </a:r>
            <a:endParaRPr lang="en-US" sz="850" dirty="0"/>
          </a:p>
        </p:txBody>
      </p:sp>
      <p:sp>
        <p:nvSpPr>
          <p:cNvPr id="66" name="Shape 55"/>
          <p:cNvSpPr/>
          <p:nvPr/>
        </p:nvSpPr>
        <p:spPr>
          <a:xfrm>
            <a:off x="9089136" y="498348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0F1830"/>
          </a:solidFill>
          <a:ln w="12700">
            <a:solidFill>
              <a:srgbClr val="273350"/>
            </a:solidFill>
            <a:prstDash val="solid"/>
          </a:ln>
        </p:spPr>
      </p:sp>
      <p:sp>
        <p:nvSpPr>
          <p:cNvPr id="67" name="Shape 56"/>
          <p:cNvSpPr/>
          <p:nvPr/>
        </p:nvSpPr>
        <p:spPr>
          <a:xfrm>
            <a:off x="10200132" y="5065776"/>
            <a:ext cx="384048" cy="384048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6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4623" y="5150267"/>
            <a:ext cx="215067" cy="215067"/>
          </a:xfrm>
          <a:prstGeom prst="rect">
            <a:avLst/>
          </a:prstGeom>
        </p:spPr>
      </p:pic>
      <p:sp>
        <p:nvSpPr>
          <p:cNvPr id="69" name="Text 57"/>
          <p:cNvSpPr txBox="1"/>
          <p:nvPr/>
        </p:nvSpPr>
        <p:spPr>
          <a:xfrm>
            <a:off x="9134856" y="546811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70" name="Text 58"/>
          <p:cNvSpPr txBox="1"/>
          <p:nvPr/>
        </p:nvSpPr>
        <p:spPr>
          <a:xfrm>
            <a:off x="9134856" y="566928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HUD / Ground</a:t>
            </a:r>
            <a:endParaRPr lang="en-US" sz="850" dirty="0"/>
          </a:p>
        </p:txBody>
      </p:sp>
      <p:sp>
        <p:nvSpPr>
          <p:cNvPr id="71" name="Text 59"/>
          <p:cNvSpPr txBox="1"/>
          <p:nvPr/>
        </p:nvSpPr>
        <p:spPr>
          <a:xfrm>
            <a:off x="502920" y="596188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engine emits — fire-and-forget: losing any output never stops supervision.</a:t>
            </a:r>
            <a:endParaRPr lang="en-US" sz="950" dirty="0"/>
          </a:p>
        </p:txBody>
      </p:sp>
      <p:sp>
        <p:nvSpPr>
          <p:cNvPr id="72" name="Text 60"/>
          <p:cNvSpPr txBox="1"/>
          <p:nvPr/>
        </p:nvSpPr>
        <p:spPr>
          <a:xfrm>
            <a:off x="502920" y="6455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ORBITAL-HAR</a:t>
            </a:r>
            <a:endParaRPr lang="en-US" sz="850" dirty="0"/>
          </a:p>
        </p:txBody>
      </p:sp>
      <p:sp>
        <p:nvSpPr>
          <p:cNvPr id="73" name="Text 61"/>
          <p:cNvSpPr txBox="1"/>
          <p:nvPr/>
        </p:nvSpPr>
        <p:spPr>
          <a:xfrm>
            <a:off x="10424160" y="6455664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BUILD IT?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217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Viability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78240" y="420624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Hashira</a:t>
            </a:r>
            <a:endParaRPr lang="en-US" sz="12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SIH26174 · ISRO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371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DE-RISKED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700784"/>
            <a:ext cx="5074920" cy="1298448"/>
          </a:xfrm>
          <a:prstGeom prst="roundRect">
            <a:avLst>
              <a:gd name="adj" fmla="val 5634"/>
            </a:avLst>
          </a:prstGeom>
          <a:solidFill>
            <a:srgbClr val="0F1830"/>
          </a:solidFill>
          <a:ln w="12700">
            <a:solidFill>
              <a:srgbClr val="2733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883664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423160" y="1901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221284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3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spine proven end-to-end with no camera and no models.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502920" y="3127248"/>
            <a:ext cx="5074920" cy="1298448"/>
          </a:xfrm>
          <a:prstGeom prst="roundRect">
            <a:avLst>
              <a:gd name="adj" fmla="val 5634"/>
            </a:avLst>
          </a:prstGeom>
          <a:solidFill>
            <a:srgbClr val="0F1830"/>
          </a:solidFill>
          <a:ln w="12700">
            <a:solidFill>
              <a:srgbClr val="2733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310128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33284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demo today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423160" y="363931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3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pretrained YOLO stand-in already feeds the real engine — HUD + voice.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502920" y="4553712"/>
            <a:ext cx="5074920" cy="1298448"/>
          </a:xfrm>
          <a:prstGeom prst="roundRect">
            <a:avLst>
              <a:gd name="adj" fmla="val 5634"/>
            </a:avLst>
          </a:prstGeom>
          <a:solidFill>
            <a:srgbClr val="0F1830"/>
          </a:solidFill>
          <a:ln w="12700">
            <a:solidFill>
              <a:srgbClr val="2733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736592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~2,800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2423160" y="4754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to train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2423160" y="5065776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3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≈2,000 synthetic + 800 real; fixed camera, &lt;12 classes = small-data regime.</a:t>
            </a:r>
            <a:endParaRPr lang="en-US" sz="103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1371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 →  MITIGATIONS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1700784"/>
            <a:ext cx="5742432" cy="1060704"/>
          </a:xfrm>
          <a:prstGeom prst="roundRect">
            <a:avLst>
              <a:gd name="adj" fmla="val 6897"/>
            </a:avLst>
          </a:prstGeom>
          <a:solidFill>
            <a:srgbClr val="0F1830"/>
          </a:solidFill>
          <a:ln w="12700">
            <a:solidFill>
              <a:srgbClr val="2733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44768" y="1901952"/>
            <a:ext cx="146304" cy="146304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82512" y="1819656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generation is the critical path</a:t>
            </a:r>
            <a:endParaRPr lang="en-US" sz="11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68" y="2249424"/>
            <a:ext cx="201168" cy="201168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6419088" y="222199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3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Blender auto-labelled synthetic data, randomised across the full orientation sphere</a:t>
            </a:r>
            <a:endParaRPr lang="en-US" sz="1030" dirty="0"/>
          </a:p>
        </p:txBody>
      </p:sp>
      <p:sp>
        <p:nvSpPr>
          <p:cNvPr id="24" name="Shape 21"/>
          <p:cNvSpPr/>
          <p:nvPr/>
        </p:nvSpPr>
        <p:spPr>
          <a:xfrm>
            <a:off x="5943600" y="2871216"/>
            <a:ext cx="5742432" cy="1060704"/>
          </a:xfrm>
          <a:prstGeom prst="roundRect">
            <a:avLst>
              <a:gd name="adj" fmla="val 6897"/>
            </a:avLst>
          </a:prstGeom>
          <a:solidFill>
            <a:srgbClr val="0F1830"/>
          </a:solidFill>
          <a:ln w="12700">
            <a:solidFill>
              <a:srgbClr val="27335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44768" y="3072384"/>
            <a:ext cx="146304" cy="146304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382512" y="2990088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models fail on inverted bodies</a:t>
            </a:r>
            <a:endParaRPr lang="en-US" sz="115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3419856"/>
            <a:ext cx="201168" cy="201168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6419088" y="339242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3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Canonicalise the input frame, not the output pose — model sees an upright person</a:t>
            </a:r>
            <a:endParaRPr lang="en-US" sz="1030" dirty="0"/>
          </a:p>
        </p:txBody>
      </p:sp>
      <p:sp>
        <p:nvSpPr>
          <p:cNvPr id="29" name="Shape 25"/>
          <p:cNvSpPr/>
          <p:nvPr/>
        </p:nvSpPr>
        <p:spPr>
          <a:xfrm>
            <a:off x="5943600" y="4041648"/>
            <a:ext cx="5742432" cy="1060704"/>
          </a:xfrm>
          <a:prstGeom prst="roundRect">
            <a:avLst>
              <a:gd name="adj" fmla="val 6897"/>
            </a:avLst>
          </a:prstGeom>
          <a:solidFill>
            <a:srgbClr val="0F1830"/>
          </a:solidFill>
          <a:ln w="12700">
            <a:solidFill>
              <a:srgbClr val="273350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144768" y="4242816"/>
            <a:ext cx="146304" cy="146304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382512" y="416052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latency in the alert path</a:t>
            </a:r>
            <a:endParaRPr lang="en-US" sz="115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4590288"/>
            <a:ext cx="201168" cy="201168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6419088" y="456285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3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Pre-synthesize voice prompts to WAV; TensorRT export on the Jetson</a:t>
            </a:r>
            <a:endParaRPr lang="en-US" sz="1030" dirty="0"/>
          </a:p>
        </p:txBody>
      </p:sp>
      <p:sp>
        <p:nvSpPr>
          <p:cNvPr id="34" name="Shape 29"/>
          <p:cNvSpPr/>
          <p:nvPr/>
        </p:nvSpPr>
        <p:spPr>
          <a:xfrm>
            <a:off x="5943600" y="5212080"/>
            <a:ext cx="5742432" cy="1060704"/>
          </a:xfrm>
          <a:prstGeom prst="roundRect">
            <a:avLst>
              <a:gd name="adj" fmla="val 6897"/>
            </a:avLst>
          </a:prstGeom>
          <a:solidFill>
            <a:srgbClr val="0F1830"/>
          </a:solidFill>
          <a:ln w="12700">
            <a:solidFill>
              <a:srgbClr val="273350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6144768" y="5413248"/>
            <a:ext cx="146304" cy="146304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6382512" y="5330952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fails during the live demo</a:t>
            </a:r>
            <a:endParaRPr lang="en-US" sz="115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5760720"/>
            <a:ext cx="201168" cy="201168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6419088" y="57332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3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Event-bus replay of a recorded session — the demo keeps running</a:t>
            </a:r>
            <a:endParaRPr lang="en-US" sz="1030" dirty="0"/>
          </a:p>
        </p:txBody>
      </p:sp>
      <p:sp>
        <p:nvSpPr>
          <p:cNvPr id="39" name="Text 33"/>
          <p:cNvSpPr txBox="1"/>
          <p:nvPr/>
        </p:nvSpPr>
        <p:spPr>
          <a:xfrm>
            <a:off x="502920" y="6455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ORBITAL-HAR</a:t>
            </a:r>
            <a:endParaRPr lang="en-US" sz="850" dirty="0"/>
          </a:p>
        </p:txBody>
      </p:sp>
      <p:sp>
        <p:nvSpPr>
          <p:cNvPr id="40" name="Text 34"/>
          <p:cNvSpPr txBox="1"/>
          <p:nvPr/>
        </p:nvSpPr>
        <p:spPr>
          <a:xfrm>
            <a:off x="10424160" y="6455664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217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78240" y="420624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Hashira</a:t>
            </a:r>
            <a:endParaRPr lang="en-US" sz="12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SIH26174 · ISRO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3977640" cy="4480560"/>
          </a:xfrm>
          <a:prstGeom prst="roundRect">
            <a:avLst>
              <a:gd name="adj" fmla="val 1839"/>
            </a:avLst>
          </a:prstGeom>
          <a:solidFill>
            <a:srgbClr val="16223F"/>
          </a:solidFill>
          <a:ln w="19050">
            <a:solidFill>
              <a:srgbClr val="2DD4E8"/>
            </a:solidFill>
            <a:prstDash val="solid"/>
          </a:ln>
          <a:effectLst>
            <a:outerShdw sx="100000" sy="100000" kx="0" ky="0" algn="bl" rotWithShape="0" blurRad="152400" dist="50800" dir="16200000">
              <a:srgbClr val="2DD4E8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67128" y="1828800"/>
            <a:ext cx="640080" cy="640080"/>
          </a:xfrm>
          <a:prstGeom prst="ellipse">
            <a:avLst/>
          </a:prstGeom>
          <a:solidFill>
            <a:srgbClr val="2DD4E8"/>
          </a:solidFill>
          <a:ln/>
          <a:effectLst>
            <a:outerShdw sx="100000" sy="100000" kx="0" ky="0" algn="bl" rotWithShape="0" blurRad="127000" dist="50800" dir="16200000">
              <a:srgbClr val="2DD4E8">
                <a:alpha val="7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7946" y="1969618"/>
            <a:ext cx="358445" cy="35844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269748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 →  KB</a:t>
            </a:r>
            <a:endParaRPr lang="en-US" sz="4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6118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DOWNLINK PER SESSION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02336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hash-chained step telemetry replaces raw video — an orders-of-magnitude saving on a bandwidth-restricted space link.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09160" y="1481328"/>
            <a:ext cx="3438144" cy="2130552"/>
          </a:xfrm>
          <a:prstGeom prst="roundRect">
            <a:avLst>
              <a:gd name="adj" fmla="val 3433"/>
            </a:avLst>
          </a:prstGeom>
          <a:solidFill>
            <a:srgbClr val="0F1830"/>
          </a:solidFill>
          <a:ln w="12700">
            <a:solidFill>
              <a:srgbClr val="2733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37760" y="1773936"/>
            <a:ext cx="548640" cy="548640"/>
          </a:xfrm>
          <a:prstGeom prst="ellipse">
            <a:avLst/>
          </a:prstGeom>
          <a:solidFill>
            <a:srgbClr val="FB923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461" y="1894637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965192" y="2414016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autonomy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965192" y="2761488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Protocol-perfect science execution beyond real-time ground support — the core need of the PS.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8247888" y="1481328"/>
            <a:ext cx="3438144" cy="2130552"/>
          </a:xfrm>
          <a:prstGeom prst="roundRect">
            <a:avLst>
              <a:gd name="adj" fmla="val 3433"/>
            </a:avLst>
          </a:prstGeom>
          <a:solidFill>
            <a:srgbClr val="0F1830"/>
          </a:solidFill>
          <a:ln w="12700">
            <a:solidFill>
              <a:srgbClr val="27335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76488" y="1773936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7189" y="1894637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503920" y="2414016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503920" y="2761488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tamper-evident audit of every step reduces crew error and supports post-mission review.</a:t>
            </a:r>
            <a:endParaRPr lang="en-US" sz="1080" dirty="0"/>
          </a:p>
        </p:txBody>
      </p:sp>
      <p:sp>
        <p:nvSpPr>
          <p:cNvPr id="21" name="Shape 16"/>
          <p:cNvSpPr/>
          <p:nvPr/>
        </p:nvSpPr>
        <p:spPr>
          <a:xfrm>
            <a:off x="4709160" y="3739896"/>
            <a:ext cx="3438144" cy="2130552"/>
          </a:xfrm>
          <a:prstGeom prst="roundRect">
            <a:avLst>
              <a:gd name="adj" fmla="val 3433"/>
            </a:avLst>
          </a:prstGeom>
          <a:solidFill>
            <a:srgbClr val="0F1830"/>
          </a:solidFill>
          <a:ln w="12700">
            <a:solidFill>
              <a:srgbClr val="27335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937760" y="4032504"/>
            <a:ext cx="548640" cy="548640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8461" y="4153205"/>
            <a:ext cx="307238" cy="30723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965192" y="4672584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platform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4965192" y="5020056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Procedure-as-config generalises to surgical, industrial, hazardous-site and training tasks.</a:t>
            </a:r>
            <a:endParaRPr lang="en-US" sz="1080" dirty="0"/>
          </a:p>
        </p:txBody>
      </p:sp>
      <p:sp>
        <p:nvSpPr>
          <p:cNvPr id="26" name="Shape 20"/>
          <p:cNvSpPr/>
          <p:nvPr/>
        </p:nvSpPr>
        <p:spPr>
          <a:xfrm>
            <a:off x="8247888" y="3739896"/>
            <a:ext cx="3438144" cy="2130552"/>
          </a:xfrm>
          <a:prstGeom prst="roundRect">
            <a:avLst>
              <a:gd name="adj" fmla="val 3433"/>
            </a:avLst>
          </a:prstGeom>
          <a:solidFill>
            <a:srgbClr val="0F1830"/>
          </a:solidFill>
          <a:ln w="12700">
            <a:solidFill>
              <a:srgbClr val="27335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8476488" y="4032504"/>
            <a:ext cx="548640" cy="548640"/>
          </a:xfrm>
          <a:prstGeom prst="ellipse">
            <a:avLst/>
          </a:prstGeom>
          <a:solidFill>
            <a:srgbClr val="2DD4E8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7189" y="4153205"/>
            <a:ext cx="307238" cy="30723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503920" y="4672584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capability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8503920" y="5020056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Indigenous, fully-offline edge-AI aligned with India's BAS and lunar programme.</a:t>
            </a:r>
            <a:endParaRPr lang="en-US" sz="1080" dirty="0"/>
          </a:p>
        </p:txBody>
      </p:sp>
      <p:sp>
        <p:nvSpPr>
          <p:cNvPr id="31" name="Text 24"/>
          <p:cNvSpPr txBox="1"/>
          <p:nvPr/>
        </p:nvSpPr>
        <p:spPr>
          <a:xfrm>
            <a:off x="502920" y="6455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ORBITAL-HAR</a:t>
            </a:r>
            <a:endParaRPr lang="en-US" sz="850" dirty="0"/>
          </a:p>
        </p:txBody>
      </p:sp>
      <p:sp>
        <p:nvSpPr>
          <p:cNvPr id="32" name="Text 25"/>
          <p:cNvSpPr txBox="1"/>
          <p:nvPr/>
        </p:nvSpPr>
        <p:spPr>
          <a:xfrm>
            <a:off x="10424160" y="6455664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217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References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78240" y="420624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Hashira</a:t>
            </a:r>
            <a:endParaRPr lang="en-US" sz="12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SIH26174 · ISRO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365760" cy="365760"/>
          </a:xfrm>
          <a:prstGeom prst="ellipse">
            <a:avLst/>
          </a:prstGeom>
          <a:solidFill>
            <a:srgbClr val="0E5A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" y="1452067"/>
            <a:ext cx="204826" cy="20482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13533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· SIH26174 — AI HAR for On-board BAS Experiments, ISRO / Dept. of Space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9372600" y="13533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sih.gov.in/sih2026PS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1938528"/>
            <a:ext cx="365760" cy="365760"/>
          </a:xfrm>
          <a:prstGeom prst="ellipse">
            <a:avLst/>
          </a:prstGeom>
          <a:solidFill>
            <a:srgbClr val="0E5A6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" y="2018995"/>
            <a:ext cx="204826" cy="20482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70432" y="19202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YOLO11 / YOLO-World — detection &amp; open-vocabulary pre-labelling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9372600" y="19202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docs.ultralytics.com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94360" y="2505456"/>
            <a:ext cx="365760" cy="365760"/>
          </a:xfrm>
          <a:prstGeom prst="ellipse">
            <a:avLst/>
          </a:prstGeom>
          <a:solidFill>
            <a:srgbClr val="0E5A6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" y="2585923"/>
            <a:ext cx="204826" cy="20482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70432" y="248716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MediaPipe Hands — real-time hand landmarks &amp; hand-object interaction</a:t>
            </a:r>
            <a:endParaRPr lang="en-US" sz="1150" dirty="0"/>
          </a:p>
        </p:txBody>
      </p:sp>
      <p:sp>
        <p:nvSpPr>
          <p:cNvPr id="16" name="Text 11"/>
          <p:cNvSpPr txBox="1"/>
          <p:nvPr/>
        </p:nvSpPr>
        <p:spPr>
          <a:xfrm>
            <a:off x="9372600" y="248716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mediapipe.dev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94360" y="3072384"/>
            <a:ext cx="365760" cy="365760"/>
          </a:xfrm>
          <a:prstGeom prst="ellipse">
            <a:avLst/>
          </a:prstGeom>
          <a:solidFill>
            <a:srgbClr val="0E5A6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" y="3152851"/>
            <a:ext cx="204826" cy="20482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70432" y="305409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ArUco — 6-DoF fiducial marker pose for rack-frame canonicalisation</a:t>
            </a:r>
            <a:endParaRPr lang="en-US" sz="1150" dirty="0"/>
          </a:p>
        </p:txBody>
      </p:sp>
      <p:sp>
        <p:nvSpPr>
          <p:cNvPr id="20" name="Text 14"/>
          <p:cNvSpPr txBox="1"/>
          <p:nvPr/>
        </p:nvSpPr>
        <p:spPr>
          <a:xfrm>
            <a:off x="9372600" y="30540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docs.opencv.org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94360" y="3639312"/>
            <a:ext cx="365760" cy="365760"/>
          </a:xfrm>
          <a:prstGeom prst="ellipse">
            <a:avLst/>
          </a:prstGeom>
          <a:solidFill>
            <a:srgbClr val="0E5A6B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27" y="3719779"/>
            <a:ext cx="204826" cy="20482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170432" y="362102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Piper TTS (Rhasspy) — fully offline neural text-to-speech for voice alerts</a:t>
            </a:r>
            <a:endParaRPr lang="en-US" sz="1150" dirty="0"/>
          </a:p>
        </p:txBody>
      </p:sp>
      <p:sp>
        <p:nvSpPr>
          <p:cNvPr id="24" name="Text 17"/>
          <p:cNvSpPr txBox="1"/>
          <p:nvPr/>
        </p:nvSpPr>
        <p:spPr>
          <a:xfrm>
            <a:off x="9372600" y="362102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github.com/rhasspy/piper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594360" y="4206240"/>
            <a:ext cx="365760" cy="365760"/>
          </a:xfrm>
          <a:prstGeom prst="ellipse">
            <a:avLst/>
          </a:prstGeom>
          <a:solidFill>
            <a:srgbClr val="0E5A6B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27" y="4286707"/>
            <a:ext cx="204826" cy="20482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170432" y="418795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Orientation-agnostic 3D Human Mesh Recovery (HMR) — rack-relative body tracking</a:t>
            </a:r>
            <a:endParaRPr lang="en-US" sz="1150" dirty="0"/>
          </a:p>
        </p:txBody>
      </p:sp>
      <p:sp>
        <p:nvSpPr>
          <p:cNvPr id="28" name="Text 20"/>
          <p:cNvSpPr txBox="1"/>
          <p:nvPr/>
        </p:nvSpPr>
        <p:spPr>
          <a:xfrm>
            <a:off x="9372600" y="41879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literature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594360" y="4773168"/>
            <a:ext cx="365760" cy="365760"/>
          </a:xfrm>
          <a:prstGeom prst="ellipse">
            <a:avLst/>
          </a:prstGeom>
          <a:solidFill>
            <a:srgbClr val="0E5A6B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827" y="4853635"/>
            <a:ext cx="204826" cy="204826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170432" y="475488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Blender bpy — scripted synthetic-data generation with automatic labels</a:t>
            </a:r>
            <a:endParaRPr lang="en-US" sz="1150" dirty="0"/>
          </a:p>
        </p:txBody>
      </p:sp>
      <p:sp>
        <p:nvSpPr>
          <p:cNvPr id="32" name="Text 23"/>
          <p:cNvSpPr txBox="1"/>
          <p:nvPr/>
        </p:nvSpPr>
        <p:spPr>
          <a:xfrm>
            <a:off x="9372600" y="47548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docs.blender.org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502920" y="5504688"/>
            <a:ext cx="11183112" cy="841248"/>
          </a:xfrm>
          <a:prstGeom prst="roundRect">
            <a:avLst>
              <a:gd name="adj" fmla="val 8696"/>
            </a:avLst>
          </a:prstGeom>
          <a:solidFill>
            <a:srgbClr val="16223F"/>
          </a:solidFill>
          <a:ln w="15875">
            <a:solidFill>
              <a:srgbClr val="2DD4E8"/>
            </a:solidFill>
            <a:prstDash val="solid"/>
          </a:ln>
          <a:effectLst>
            <a:outerShdw sx="100000" sy="100000" kx="0" ky="0" algn="bl" rotWithShape="0" blurRad="152400" dist="50800" dir="16200000">
              <a:srgbClr val="2DD4E8">
                <a:alpha val="50000"/>
              </a:srgbClr>
            </a:outerShdw>
          </a:effectLst>
        </p:spPr>
      </p:sp>
      <p:sp>
        <p:nvSpPr>
          <p:cNvPr id="34" name="Text 25"/>
          <p:cNvSpPr txBox="1"/>
          <p:nvPr/>
        </p:nvSpPr>
        <p:spPr>
          <a:xfrm>
            <a:off x="777240" y="5614416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spine is done and tested — the trained AI model is the next milestone. </a:t>
            </a:r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ORBITAL-HAR turns any procedure into a supervised, auditable, offline mission asset.</a:t>
            </a:r>
            <a:endParaRPr lang="en-US" sz="1250" dirty="0"/>
          </a:p>
        </p:txBody>
      </p:sp>
      <p:sp>
        <p:nvSpPr>
          <p:cNvPr id="35" name="Text 26"/>
          <p:cNvSpPr txBox="1"/>
          <p:nvPr/>
        </p:nvSpPr>
        <p:spPr>
          <a:xfrm>
            <a:off x="8869680" y="5669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Hashira</a:t>
            </a:r>
            <a:endParaRPr lang="en-US" sz="13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SIH26174 · ISRO</a:t>
            </a:r>
            <a:endParaRPr lang="en-US" sz="1300" dirty="0"/>
          </a:p>
        </p:txBody>
      </p:sp>
      <p:sp>
        <p:nvSpPr>
          <p:cNvPr id="36" name="Text 27"/>
          <p:cNvSpPr txBox="1"/>
          <p:nvPr/>
        </p:nvSpPr>
        <p:spPr>
          <a:xfrm>
            <a:off x="502920" y="6455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ORBITAL-HAR</a:t>
            </a:r>
            <a:endParaRPr lang="en-US" sz="850" dirty="0"/>
          </a:p>
        </p:txBody>
      </p:sp>
      <p:sp>
        <p:nvSpPr>
          <p:cNvPr id="37" name="Text 28"/>
          <p:cNvSpPr txBox="1"/>
          <p:nvPr/>
        </p:nvSpPr>
        <p:spPr>
          <a:xfrm>
            <a:off x="10424160" y="6455664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3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2026-09-24T08:23:07Z</dcterms:created>
  <dcterms:modified xsi:type="dcterms:W3CDTF">2026-09-24T08:23:07Z</dcterms:modified>
</cp:coreProperties>
</file>